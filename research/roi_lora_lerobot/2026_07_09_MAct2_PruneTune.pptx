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83" r:id="rId7"/>
    <p:sldId id="262" r:id="rId8"/>
    <p:sldId id="263" r:id="rId9"/>
    <p:sldId id="282" r:id="rId10"/>
    <p:sldId id="264" r:id="rId11"/>
    <p:sldId id="279" r:id="rId12"/>
    <p:sldId id="281" r:id="rId13"/>
    <p:sldId id="289" r:id="rId14"/>
    <p:sldId id="266" r:id="rId15"/>
    <p:sldId id="290" r:id="rId16"/>
    <p:sldId id="265" r:id="rId17"/>
    <p:sldId id="280" r:id="rId18"/>
    <p:sldId id="284" r:id="rId19"/>
    <p:sldId id="285" r:id="rId20"/>
    <p:sldId id="286" r:id="rId21"/>
    <p:sldId id="287" r:id="rId22"/>
    <p:sldId id="28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56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, Mir Sayeed" userId="1054a5ac-8b5d-4a43-9066-9fd6298e8cb6" providerId="ADAL" clId="{365E9AA1-1563-4E8C-8C2B-AD8AEF2CBA7A}"/>
    <pc:docChg chg="delSld">
      <pc:chgData name="Mohammad, Mir Sayeed" userId="1054a5ac-8b5d-4a43-9066-9fd6298e8cb6" providerId="ADAL" clId="{365E9AA1-1563-4E8C-8C2B-AD8AEF2CBA7A}" dt="2026-07-24T08:25:20.733" v="1" actId="47"/>
      <pc:docMkLst>
        <pc:docMk/>
      </pc:docMkLst>
      <pc:sldChg chg="del">
        <pc:chgData name="Mohammad, Mir Sayeed" userId="1054a5ac-8b5d-4a43-9066-9fd6298e8cb6" providerId="ADAL" clId="{365E9AA1-1563-4E8C-8C2B-AD8AEF2CBA7A}" dt="2026-07-24T08:25:20.733" v="1" actId="47"/>
        <pc:sldMkLst>
          <pc:docMk/>
          <pc:sldMk cId="0" sldId="257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67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68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69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0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1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2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3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4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5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6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7"/>
        </pc:sldMkLst>
      </pc:sldChg>
      <pc:sldChg chg="del">
        <pc:chgData name="Mohammad, Mir Sayeed" userId="1054a5ac-8b5d-4a43-9066-9fd6298e8cb6" providerId="ADAL" clId="{365E9AA1-1563-4E8C-8C2B-AD8AEF2CBA7A}" dt="2026-07-24T08:25:04.684" v="0" actId="47"/>
        <pc:sldMkLst>
          <pc:docMk/>
          <pc:sldMk cId="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921D8-733B-4061-A408-A78C73C5757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CACFB-042F-46C4-8EC6-44EBBB24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CACFB-042F-46C4-8EC6-44EBBB24C7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78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CACFB-042F-46C4-8EC6-44EBBB24C7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5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75887"/>
            <a:ext cx="12191695" cy="45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Efficient VLA &amp; World-Action Models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on AMD Strix Halo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10789920" cy="2194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C9CCD1"/>
                </a:solidFill>
                <a:latin typeface="Times New Roman"/>
              </a:rPr>
              <a:t>Weekly research update  ·  July 9, 2026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Track 1 — Learned vision-token pruning for MolmoAct2  (pre-ViT gate · FastV · distilled ViT)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Track 2 — Bottlenecks, benchmarking &amp; runtime optimization across the WAM family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9CCD1"/>
                </a:solidFill>
                <a:latin typeface="Calibri"/>
              </a:rPr>
              <a:t>Target:  smooth, real-time robot policies on Ryzen AI MAX+ 395  (gfx1151, ROCm 7.2.2, bf16)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2788920"/>
            <a:ext cx="1371600" cy="73152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D1C24"/>
                </a:solidFill>
                <a:latin typeface="Times New Roman"/>
              </a:rPr>
              <a:t>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60704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MolmoAct2 — Learned Vision-Token Pruning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Where We Left Off — and This Week's Step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From random / untrained pruning to a trained, feedback-guided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6400800" cy="5120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Recap (last week):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–  </a:t>
            </a:r>
            <a:r>
              <a:rPr sz="1300" b="1" i="0">
                <a:solidFill>
                  <a:srgbClr val="212529"/>
                </a:solidFill>
                <a:latin typeface="Calibri"/>
              </a:rPr>
              <a:t>Post-ViT random token drop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worked — fewer tokens to the LLM, minimal accuracy loss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–  </a:t>
            </a:r>
            <a:r>
              <a:rPr sz="1300" b="1" i="0">
                <a:solidFill>
                  <a:srgbClr val="212529"/>
                </a:solidFill>
                <a:latin typeface="Calibri"/>
              </a:rPr>
              <a:t>Untrained / attention-guided pruning underperformed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— cliffed to 0% at aggressive keep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–  </a:t>
            </a:r>
            <a:r>
              <a:rPr sz="1300" b="1" i="0">
                <a:solidFill>
                  <a:srgbClr val="212529"/>
                </a:solidFill>
                <a:latin typeface="Calibri"/>
              </a:rPr>
              <a:t>Pre-ViT pruning was hardest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— dropping patches before the encoder broke the policy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2E"/>
                </a:solidFill>
                <a:latin typeface="Calibri"/>
              </a:rPr>
              <a:t>This week — add training + feedback: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–  </a:t>
            </a:r>
            <a:r>
              <a:rPr sz="1300" b="1" i="0">
                <a:solidFill>
                  <a:srgbClr val="1971C2"/>
                </a:solidFill>
                <a:latin typeface="Calibri"/>
              </a:rPr>
              <a:t>Route A: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a learned student gate trained on action-expert attention, pruning patches </a:t>
            </a:r>
            <a:r>
              <a:rPr sz="1300" b="1" i="0">
                <a:solidFill>
                  <a:srgbClr val="ED1C24"/>
                </a:solidFill>
                <a:latin typeface="Calibri"/>
              </a:rPr>
              <a:t>before the ViT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–  </a:t>
            </a:r>
            <a:r>
              <a:rPr sz="1300" b="1" i="0">
                <a:solidFill>
                  <a:srgbClr val="1971C2"/>
                </a:solidFill>
                <a:latin typeface="Calibri"/>
              </a:rPr>
              <a:t>Route B: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also cut the token count </a:t>
            </a:r>
            <a:r>
              <a:rPr sz="1300" b="1" i="0">
                <a:solidFill>
                  <a:srgbClr val="ED1C24"/>
                </a:solidFill>
                <a:latin typeface="Calibri"/>
              </a:rPr>
              <a:t>out of the LLM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via a FastV stage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–  </a:t>
            </a:r>
            <a:r>
              <a:rPr sz="1300" b="1" i="0">
                <a:solidFill>
                  <a:srgbClr val="1971C2"/>
                </a:solidFill>
                <a:latin typeface="Calibri"/>
              </a:rPr>
              <a:t>Route C: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replace the ViT entirely with a </a:t>
            </a:r>
            <a:r>
              <a:rPr sz="1300" b="1" i="0">
                <a:solidFill>
                  <a:srgbClr val="ED1C24"/>
                </a:solidFill>
                <a:latin typeface="Calibri"/>
              </a:rPr>
              <a:t>100× distilled student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(FPGA target)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95057"/>
                </a:solidFill>
                <a:latin typeface="Calibri"/>
              </a:rPr>
              <a:t>–  All routes fine-tuned with LoRA adapters; trained on Radha / Rainier (MI300X-class)</a:t>
            </a:r>
          </a:p>
        </p:txBody>
      </p:sp>
      <p:pic>
        <p:nvPicPr>
          <p:cNvPr id="8" name="Picture 7" descr="molmo_rollout_keep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41901"/>
            <a:ext cx="4709160" cy="2551237"/>
          </a:xfrm>
          <a:prstGeom prst="rect">
            <a:avLst/>
          </a:prstGeom>
          <a:ln w="9525">
            <a:solidFill>
              <a:srgbClr val="C9CCD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086600" y="4709160"/>
            <a:ext cx="4709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95057"/>
                </a:solidFill>
                <a:latin typeface="Calibri"/>
              </a:rPr>
              <a:t>MolmoAct2 closed-loop rollout — full tokens vs pruned ("THINKING" = planning)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Molmo/FEEDBACK_PRUNING_LORA_REPORT.md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The Pipeline &amp; Three Pruning Routes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Where each route cuts compute in the MolmoAct2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737360" cy="868680"/>
          </a:xfrm>
          <a:prstGeom prst="roundRect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Image patches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CD1"/>
                </a:solidFill>
                <a:latin typeface="Calibri"/>
              </a:rPr>
              <a:t>729 / crop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0008" y="1554480"/>
            <a:ext cx="2286000" cy="868680"/>
          </a:xfrm>
          <a:prstGeom prst="roundRect">
            <a:avLst/>
          </a:prstGeom>
          <a:solidFill>
            <a:srgbClr val="197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Vision encoder (ViT)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CD1"/>
                </a:solidFill>
                <a:latin typeface="Calibri"/>
              </a:rPr>
              <a:t>SigLIP2 · 27 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45736" y="1554480"/>
            <a:ext cx="1371600" cy="868680"/>
          </a:xfrm>
          <a:prstGeom prst="roundRect">
            <a:avLst/>
          </a:prstGeom>
          <a:solidFill>
            <a:srgbClr val="49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Pool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CD1"/>
                </a:solidFill>
                <a:latin typeface="Calibri"/>
              </a:rPr>
              <a:t>→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554480"/>
            <a:ext cx="2194560" cy="868680"/>
          </a:xfrm>
          <a:prstGeom prst="roundRect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LLM backbone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CD1"/>
                </a:solidFill>
                <a:latin typeface="Calibri"/>
              </a:rPr>
              <a:t>Qwen3-4B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1352" y="1554480"/>
            <a:ext cx="21945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DiT action expert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CD1"/>
                </a:solidFill>
                <a:latin typeface="Calibri"/>
              </a:rPr>
              <a:t>flow-matching → 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0"/>
            <a:ext cx="109728" cy="0"/>
          </a:xfrm>
          <a:prstGeom prst="bentConnector3">
            <a:avLst/>
          </a:prstGeom>
          <a:ln w="25400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36008" y="0"/>
            <a:ext cx="109728" cy="0"/>
          </a:xfrm>
          <a:prstGeom prst="bentConnector3">
            <a:avLst/>
          </a:prstGeom>
          <a:ln w="25400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17336" y="0"/>
            <a:ext cx="109728" cy="0"/>
          </a:xfrm>
          <a:prstGeom prst="bentConnector3">
            <a:avLst/>
          </a:prstGeom>
          <a:ln w="25400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21624" y="0"/>
            <a:ext cx="109728" cy="0"/>
          </a:xfrm>
          <a:prstGeom prst="bentConnector3">
            <a:avLst/>
          </a:prstGeom>
          <a:ln w="25400">
            <a:solidFill>
              <a:srgbClr val="495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3063240"/>
            <a:ext cx="3611880" cy="105156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F9E44"/>
                </a:solidFill>
                <a:latin typeface="Calibri"/>
              </a:rPr>
              <a:t>Route A — Pre-ViT student gate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529"/>
                </a:solidFill>
                <a:latin typeface="Calibri"/>
              </a:rPr>
              <a:t>Learned gate prunes patches before the ViT. Saves ViT compute; scatter-back keeps token count unchanged.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063240"/>
            <a:ext cx="3611880" cy="1051560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971C2"/>
                </a:solidFill>
                <a:latin typeface="Calibri"/>
              </a:rPr>
              <a:t>Route B — Two-stage FastV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529"/>
                </a:solidFill>
                <a:latin typeface="Calibri"/>
              </a:rPr>
              <a:t>Gate @50% ViT, then FastV drops image tokens inside the LLM (layer 3). Reduces output token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063240"/>
            <a:ext cx="3611880" cy="1051560"/>
          </a:xfrm>
          <a:prstGeom prst="round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480F"/>
                </a:solidFill>
                <a:latin typeface="Calibri"/>
              </a:rPr>
              <a:t>Route C — Distilled ViT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529"/>
                </a:solidFill>
                <a:latin typeface="Calibri"/>
              </a:rPr>
              <a:t>Replace the SigLIP2 ViT with a ~114× smaller distilled student. Target: fit on FPGA hardware.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11247120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40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Key idea: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 the heavy cost is the ViT (≈616 GFLOP/crop) and the LLM prefill over vision tokens. Route A attacks ViT compute, Route B attacks LLM token count, Route C attacks the ViT wholesale.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Teacher signal: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 cross-attention heatmaps from the DiT action expert tell us which patches the policy actually looks 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molmoact2_src/config.json (ViT L=27) · VIT_DISTILL_REPORT.md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A — Learned Pre-ViT Gate (Method)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A student gate distilled from action-expert attention, pruning patches before the 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5029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Teacher: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sink-debiased cross-attention from the DiT action expert (layers 9, 20, 21) — the patches the policy attends 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Student gate: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a lightweight scorer at ViT layer 6 (the most stable seam) predicts patch importance.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Prune: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keep top-K patches, mask the rest for the remaining ViT layers → </a:t>
            </a:r>
            <a:r>
              <a:rPr sz="1300" b="1" i="0">
                <a:solidFill>
                  <a:srgbClr val="ED1C24"/>
                </a:solidFill>
                <a:latin typeface="Calibri"/>
              </a:rPr>
              <a:t>ViT compute drops after layer 6.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Token count preserved: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encoded features are scattered back onto the full 729-patch grid with a learned mask token, so the downstream LLM sees the same token count.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Training: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LoRA fine-tune (6000 steps) at 3 keep fractions; closed-loop LIBERO eval on Radha (MI300X).</a:t>
            </a:r>
          </a:p>
        </p:txBody>
      </p:sp>
      <p:pic>
        <p:nvPicPr>
          <p:cNvPr id="8" name="Picture 7" descr="molmo_teacher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63377"/>
            <a:ext cx="5394960" cy="3531246"/>
          </a:xfrm>
          <a:prstGeom prst="rect">
            <a:avLst/>
          </a:prstGeom>
          <a:ln w="9525">
            <a:solidFill>
              <a:srgbClr val="C9CCD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0" y="5577840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95057"/>
                </a:solidFill>
                <a:latin typeface="Calibri"/>
              </a:rPr>
              <a:t>Teacher attention (debiased) → student-predicted keep mask, across keep fractions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FEEDBACK_PRUNING_LORA_REPORT.md §9 (seam6, teacher L[9,20,21], 6000 steps, MI300X)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F7D3-94A7-C400-0C57-22F9FAB7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BC686A-9F26-2AAA-DE1A-DF11AAC1FCC7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D232CF-C36A-BBDA-E95E-CDD3C37661D0}"/>
              </a:ext>
            </a:extLst>
          </p:cNvPr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D0131-D979-1F10-A6C9-BDDAC13BEB15}"/>
              </a:ext>
            </a:extLst>
          </p:cNvPr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A — Gate Design: Failed vs Working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A student gate distilled from action-expert attention, pruning patches before the ViT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B9C24-4192-5A9A-65BF-E7B57C4850E0}"/>
              </a:ext>
            </a:extLst>
          </p:cNvPr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238CF-4BED-BE83-580E-856C214FA380}"/>
              </a:ext>
            </a:extLst>
          </p:cNvPr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E745EF-5836-787E-6A55-8ACDB4D18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31620"/>
            <a:ext cx="5623560" cy="3749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1F700F-02FA-8026-4F72-582E1CE27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48054"/>
            <a:ext cx="5942838" cy="39618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7727ED-C2E8-37DC-1831-0A6DF841A7D3}"/>
              </a:ext>
            </a:extLst>
          </p:cNvPr>
          <p:cNvSpPr txBox="1"/>
          <p:nvPr/>
        </p:nvSpPr>
        <p:spPr>
          <a:xfrm>
            <a:off x="1053846" y="5440394"/>
            <a:ext cx="357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Failed approach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644FF-39F9-D802-611C-8411DAF5F7A5}"/>
              </a:ext>
            </a:extLst>
          </p:cNvPr>
          <p:cNvSpPr txBox="1"/>
          <p:nvPr/>
        </p:nvSpPr>
        <p:spPr>
          <a:xfrm>
            <a:off x="7280910" y="5440394"/>
            <a:ext cx="357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Successful approach</a:t>
            </a:r>
          </a:p>
        </p:txBody>
      </p:sp>
    </p:spTree>
    <p:extLst>
      <p:ext uri="{BB962C8B-B14F-4D97-AF65-F5344CB8AC3E}">
        <p14:creationId xmlns:p14="http://schemas.microsoft.com/office/powerpoint/2010/main" val="406833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A — Results at 25 / 50 / 75% Retained Tokens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Graceful accuracy trade-off for large ViT-compute savings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routeA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3230"/>
            <a:ext cx="5623560" cy="3548660"/>
          </a:xfrm>
          <a:prstGeom prst="rect">
            <a:avLst/>
          </a:prstGeom>
        </p:spPr>
      </p:pic>
      <p:pic>
        <p:nvPicPr>
          <p:cNvPr id="8" name="Picture 7" descr="routeA_comp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73186"/>
            <a:ext cx="5577840" cy="37287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11338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keep = 25% tokens still holds 88.2% (4-suite avg) for a 4.33× ViT speedup — a ~9-pt drop for 4× fewer patches.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roi_eval/README.md · roi_training/compute_saved.json (4.33× ViT)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A — The Win vs Last Week (25% tokens)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Training turns pre-ViT pruning from unusable into viable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routeA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0718"/>
            <a:ext cx="5486400" cy="3396563"/>
          </a:xfrm>
          <a:prstGeom prst="rect">
            <a:avLst/>
          </a:prstGeom>
        </p:spPr>
      </p:pic>
      <p:pic>
        <p:nvPicPr>
          <p:cNvPr id="8" name="Picture 7" descr="molmo_prune_viz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179" y="1280160"/>
            <a:ext cx="3520761" cy="4114800"/>
          </a:xfrm>
          <a:prstGeom prst="rect">
            <a:avLst/>
          </a:prstGeom>
          <a:ln w="9525">
            <a:solidFill>
              <a:srgbClr val="C9CCD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55080" y="5486400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95057"/>
                </a:solidFill>
                <a:latin typeface="Calibri"/>
              </a:rPr>
              <a:t>What the model keeps at 25% tokens — input (left) vs retained patches (right)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2E"/>
                </a:solidFill>
                <a:latin typeface="Calibri"/>
              </a:rPr>
              <a:t>Untrained pre-ViT group-drop: 0%  →  learned gate + LoRA: 88.2%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roi_eval/README.md (88.2% @ keep0.25 vs 0% untrained)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82A91-40E0-22F1-3DB7-11AC9C1EE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C48D12-5428-77CB-7743-BD06A02D5C17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F703E-ABBB-9AB3-C433-B8C33DF96EC6}"/>
              </a:ext>
            </a:extLst>
          </p:cNvPr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05606-2466-FA8A-C1C4-A092CFBC14CF}"/>
              </a:ext>
            </a:extLst>
          </p:cNvPr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A — What the Gate Keeps (25 / 50 / 75%)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Training turns pre-ViT pruning from unusable into viable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EDA2D-824E-DDF3-395A-05EFF4692ADB}"/>
              </a:ext>
            </a:extLst>
          </p:cNvPr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DDD39-2786-F869-533B-63A0D49912FD}"/>
              </a:ext>
            </a:extLst>
          </p:cNvPr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E24B25-1B7F-18CC-C169-85227A28B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12192000" cy="426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FEEDBACK_PRUNING_LORA_REPORT.md (qualitative keep masks)</a:t>
            </a:r>
          </a:p>
        </p:txBody>
      </p:sp>
    </p:spTree>
    <p:extLst>
      <p:ext uri="{BB962C8B-B14F-4D97-AF65-F5344CB8AC3E}">
        <p14:creationId xmlns:p14="http://schemas.microsoft.com/office/powerpoint/2010/main" val="188326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9412"/>
            <a:ext cx="11384280" cy="6704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FFFFFF"/>
                </a:solidFill>
                <a:latin typeface="Times New Roman"/>
              </a:rPr>
              <a:t>Route B — Two-Stage </a:t>
            </a:r>
            <a:r>
              <a:rPr sz="2600" b="1" i="0" dirty="0" err="1">
                <a:solidFill>
                  <a:srgbClr val="FFFFFF"/>
                </a:solidFill>
                <a:latin typeface="Times New Roman"/>
              </a:rPr>
              <a:t>FastV</a:t>
            </a:r>
            <a:endParaRPr lang="en-US" sz="2600" b="1" i="0" dirty="0">
              <a:solidFill>
                <a:srgbClr val="FFFFFF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1350" b="0" i="0" dirty="0">
                <a:solidFill>
                  <a:srgbClr val="C9CCD1"/>
                </a:solidFill>
                <a:latin typeface="Times New Roman"/>
              </a:rPr>
              <a:t>Group-pruning at </a:t>
            </a:r>
            <a:r>
              <a:rPr lang="en-US" sz="1350" b="0" i="0" dirty="0" err="1">
                <a:solidFill>
                  <a:srgbClr val="C9CCD1"/>
                </a:solidFill>
                <a:latin typeface="Times New Roman"/>
              </a:rPr>
              <a:t>ViT</a:t>
            </a:r>
            <a:r>
              <a:rPr lang="en-US" sz="1350" b="0" i="0" dirty="0">
                <a:solidFill>
                  <a:srgbClr val="C9CCD1"/>
                </a:solidFill>
                <a:latin typeface="Times New Roman"/>
              </a:rPr>
              <a:t> input failed → move the token cut inside the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6912864" cy="88453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dirty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 dirty="0">
                <a:solidFill>
                  <a:srgbClr val="ED1C24"/>
                </a:solidFill>
                <a:latin typeface="Calibri"/>
              </a:rPr>
              <a:t>Problem:</a:t>
            </a:r>
            <a:r>
              <a:rPr sz="1300" b="0" i="0" dirty="0">
                <a:solidFill>
                  <a:srgbClr val="212529"/>
                </a:solidFill>
                <a:latin typeface="Calibri"/>
              </a:rPr>
              <a:t> pruning patch groups at the </a:t>
            </a:r>
            <a:r>
              <a:rPr sz="1300" b="0" i="0" dirty="0" err="1">
                <a:solidFill>
                  <a:srgbClr val="212529"/>
                </a:solidFill>
                <a:latin typeface="Calibri"/>
              </a:rPr>
              <a:t>ViT</a:t>
            </a:r>
            <a:r>
              <a:rPr sz="1300" b="0" i="0" dirty="0">
                <a:solidFill>
                  <a:srgbClr val="212529"/>
                </a:solidFill>
                <a:latin typeface="Calibri"/>
              </a:rPr>
              <a:t> input to reduce output token count collapsed to 0% success.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 dirty="0">
                <a:solidFill>
                  <a:srgbClr val="2F9E44"/>
                </a:solidFill>
                <a:latin typeface="Calibri"/>
              </a:rPr>
              <a:t>Fix:</a:t>
            </a:r>
            <a:r>
              <a:rPr sz="1300" b="0" i="0" dirty="0">
                <a:solidFill>
                  <a:srgbClr val="212529"/>
                </a:solidFill>
                <a:latin typeface="Calibri"/>
              </a:rPr>
              <a:t> keep Stage-1 gate at 50% </a:t>
            </a:r>
            <a:r>
              <a:rPr sz="1300" b="0" i="0" dirty="0" err="1">
                <a:solidFill>
                  <a:srgbClr val="212529"/>
                </a:solidFill>
                <a:latin typeface="Calibri"/>
              </a:rPr>
              <a:t>ViT</a:t>
            </a:r>
            <a:r>
              <a:rPr sz="1300" b="0" i="0" dirty="0">
                <a:solidFill>
                  <a:srgbClr val="212529"/>
                </a:solidFill>
                <a:latin typeface="Calibri"/>
              </a:rPr>
              <a:t> patches, then add a </a:t>
            </a:r>
            <a:r>
              <a:rPr sz="1300" b="1" i="0" dirty="0" err="1">
                <a:solidFill>
                  <a:srgbClr val="1971C2"/>
                </a:solidFill>
                <a:latin typeface="Calibri"/>
              </a:rPr>
              <a:t>FastV</a:t>
            </a:r>
            <a:r>
              <a:rPr sz="1300" b="1" i="0" dirty="0">
                <a:solidFill>
                  <a:srgbClr val="1971C2"/>
                </a:solidFill>
                <a:latin typeface="Calibri"/>
              </a:rPr>
              <a:t> stage inside the LLM (layer 3)</a:t>
            </a:r>
            <a:r>
              <a:rPr sz="1300" b="0" i="0" dirty="0">
                <a:solidFill>
                  <a:srgbClr val="212529"/>
                </a:solidFill>
                <a:latin typeface="Calibri"/>
              </a:rPr>
              <a:t> that progressively drops image tokens through the decoder.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1AC7BF-3CD5-E14A-1043-A0F6FD03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DC11-CB67-5F9F-BA9A-C2EA0617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FDC036-1EAA-4D2F-D71D-7209F6EEDCB4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8B96E-6780-DAAE-50AA-0F6EB6D67DAD}"/>
              </a:ext>
            </a:extLst>
          </p:cNvPr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6033E-568C-F2F2-6664-771AA77D1C67}"/>
              </a:ext>
            </a:extLst>
          </p:cNvPr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B — Two-Stage FastV (cutting LLM token count)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Group-pruning at ViT input failed → move the token cut inside the LLM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D158A-15A1-483B-0702-23D0C3A16810}"/>
              </a:ext>
            </a:extLst>
          </p:cNvPr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77F9F-C488-C1E0-4063-EA48F3E95597}"/>
              </a:ext>
            </a:extLst>
          </p:cNvPr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B4965-FC93-EDF1-DA0E-C2D33B795CA8}"/>
              </a:ext>
            </a:extLst>
          </p:cNvPr>
          <p:cNvSpPr txBox="1"/>
          <p:nvPr/>
        </p:nvSpPr>
        <p:spPr>
          <a:xfrm>
            <a:off x="502920" y="1188720"/>
            <a:ext cx="112471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ED1C24"/>
                </a:solidFill>
                <a:latin typeface="Calibri"/>
              </a:rPr>
              <a:t>Problem: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pruning patch groups at the ViT input to reduce output token count collapsed to 0% success.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F9E44"/>
                </a:solidFill>
                <a:latin typeface="Calibri"/>
              </a:rPr>
              <a:t>Fix: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keep Stage-1 gate at 50% ViT patches, then add a </a:t>
            </a:r>
            <a:r>
              <a:rPr sz="1300" b="1" i="0">
                <a:solidFill>
                  <a:srgbClr val="1971C2"/>
                </a:solidFill>
                <a:latin typeface="Calibri"/>
              </a:rPr>
              <a:t>FastV stage inside the LLM (layer 3)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that progressively drops image tokens through the decoder.</a:t>
            </a:r>
          </a:p>
        </p:txBody>
      </p:sp>
      <p:pic>
        <p:nvPicPr>
          <p:cNvPr id="8" name="Picture 7" descr="routeB_summary.png">
            <a:extLst>
              <a:ext uri="{FF2B5EF4-FFF2-40B4-BE49-F238E27FC236}">
                <a16:creationId xmlns:a16="http://schemas.microsoft.com/office/drawing/2014/main" id="{51CCE149-B5AA-42CB-0150-DB5C4185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76" y="2514600"/>
            <a:ext cx="8687407" cy="3200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F3D6E0-6C84-BF3E-DC95-B4E7A553AB8F}"/>
              </a:ext>
            </a:extLst>
          </p:cNvPr>
          <p:cNvSpPr txBox="1"/>
          <p:nvPr/>
        </p:nvSpPr>
        <p:spPr>
          <a:xfrm>
            <a:off x="457200" y="5806440"/>
            <a:ext cx="11338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95057"/>
                </a:solidFill>
                <a:latin typeface="Calibri"/>
              </a:rPr>
              <a:t>FastV 25% → 61% fewer LLM tokens, −46% GFLOPs, −11% latency (MI300X). Closed-loop (500 rollouts/config, MI300X): 96.5% at 50% keep (lossless), 84.0% at 25% keep.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FEEDBACK_PRUNING_LORA_REPORT.md §9.2 (500 rollouts/config, MI300X)</a:t>
            </a:r>
          </a:p>
        </p:txBody>
      </p:sp>
    </p:spTree>
    <p:extLst>
      <p:ext uri="{BB962C8B-B14F-4D97-AF65-F5344CB8AC3E}">
        <p14:creationId xmlns:p14="http://schemas.microsoft.com/office/powerpoint/2010/main" val="1643331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61DD-A17F-2087-3128-BB673BBA8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C521A9-56F2-6EE7-EA1F-E7908E99EC6A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F3CC11-F935-1000-E270-1D9DAAD597DB}"/>
              </a:ext>
            </a:extLst>
          </p:cNvPr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AC050-9636-B7DF-B4A7-7A34C9BCFF5E}"/>
              </a:ext>
            </a:extLst>
          </p:cNvPr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B — Qualitative Pruning (25% vs 50%)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Group-pruning at ViT input failed → move the token cut inside the LLM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0F4C6-4B5D-819E-19CE-DE49AA458CB2}"/>
              </a:ext>
            </a:extLst>
          </p:cNvPr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7954B-1F45-7FBD-D422-43B7F2EEF196}"/>
              </a:ext>
            </a:extLst>
          </p:cNvPr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DFDA2F-544E-F736-F483-41E8355E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60704"/>
            <a:ext cx="4696303" cy="57972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915950-8B01-3303-A59F-2DBD7A636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297" y="1042416"/>
            <a:ext cx="4696303" cy="57972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D8A5E1-7FAF-2720-E92F-D544CF16ECA4}"/>
              </a:ext>
            </a:extLst>
          </p:cNvPr>
          <p:cNvSpPr txBox="1"/>
          <p:nvPr/>
        </p:nvSpPr>
        <p:spPr>
          <a:xfrm>
            <a:off x="5107783" y="2603147"/>
            <a:ext cx="12655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 Percent Retention</a:t>
            </a:r>
          </a:p>
          <a:p>
            <a:r>
              <a:rPr lang="en-US" dirty="0">
                <a:sym typeface="Wingdings" panose="05000000000000000000" pitchFamily="2" charset="2"/>
              </a:rPr>
              <a:t>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078BA1-96C9-8303-6EF3-BD081FE68F8D}"/>
              </a:ext>
            </a:extLst>
          </p:cNvPr>
          <p:cNvSpPr txBox="1"/>
          <p:nvPr/>
        </p:nvSpPr>
        <p:spPr>
          <a:xfrm>
            <a:off x="5696712" y="5142393"/>
            <a:ext cx="12655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50 Percent Retention</a:t>
            </a:r>
          </a:p>
          <a:p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FEEDBACK_PRUNING_LORA_REPORT.md (qualitative 25% vs 50%)</a:t>
            </a:r>
          </a:p>
        </p:txBody>
      </p:sp>
    </p:spTree>
    <p:extLst>
      <p:ext uri="{BB962C8B-B14F-4D97-AF65-F5344CB8AC3E}">
        <p14:creationId xmlns:p14="http://schemas.microsoft.com/office/powerpoint/2010/main" val="61334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Combined Pipeline — Gate+FastV vs Predict+FastV</a:t>
            </a:r>
          </a:p>
          <a:p>
            <a:r>
              <a:rPr sz="1350" b="0" i="0">
                <a:solidFill>
                  <a:srgbClr val="C9CCD1"/>
                </a:solidFill>
                <a:latin typeface="Times New Roman"/>
              </a:rPr>
              <a:t>Stack the pre-ViT selector (keep 50% of patches, seam-6) with an in-LLM FastV cut — closed-loop LIBERO, 4 suites × 10 tasks × 10 ep = 400 ep/run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 i="0">
                <a:solidFill>
                  <a:srgbClr val="495057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3385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0">
                <a:solidFill>
                  <a:srgbClr val="212529"/>
                </a:solidFill>
                <a:latin typeface="Calibri"/>
              </a:rPr>
              <a:t>Two selector variants — gate (teacher-distilled ROI) and predict (past-frame causal ROI, teacher-free at inference) — each run at two in-LLM FastV budgets: keep 50% (cut at L0=3) and keep 25% (cut at L0=9).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828800"/>
          <a:ext cx="11247117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9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97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9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496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Selector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FastV keep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L0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gate + FastV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gate_distill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98.0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96.0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97.0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96.2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predict + FastV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gate_predict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97.0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99.0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94.0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9E44"/>
                          </a:solidFill>
                          <a:latin typeface="Calibri"/>
                        </a:rPr>
                        <a:t>97.5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gate + FastV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gate_distill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95.0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95.0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96.0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predict + FastV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gate_predict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95.0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99.0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91.0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96.0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95.2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160520"/>
            <a:ext cx="11247120" cy="96012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224528"/>
            <a:ext cx="108356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00" b="1" i="0">
                <a:solidFill>
                  <a:srgbClr val="1A1A2E"/>
                </a:solidFill>
                <a:latin typeface="Calibri"/>
              </a:rPr>
              <a:t>Token budget (matched between gate &amp; predict within each pair, so accuracy is compared at equal compute):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212529"/>
                </a:solidFill>
                <a:latin typeface="Calibri"/>
              </a:rPr>
              <a:t>Pair A  (keep 50% / L0=3):  pre-ViT gate 364/729 = 49.9% patches  ·  in-LLM FastV 479 → 283 = 59.1% of LLM seq.      Pair B  (keep 25% / L0=9):  pre-ViT 49.9%  ·  in-LLM FastV 479 → 185 = 38.6% of LLM seq.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0">
                <a:solidFill>
                  <a:srgbClr val="212529"/>
                </a:solidFill>
                <a:latin typeface="Calibri"/>
              </a:rPr>
              <a:t>All four combined configurations land 95.2–97.5% overall; the two selectors stay within ~1 pt of each other at each budget. Moderate-prune predict+FastV is highest at 97.5% (goal 100%); aggressive keep-25 trades a little accuracy for a deeper LLM cut. The deeper FastV layer at keep-25 (L0=9 vs L0=3) lets 6 more decoder layers see the full token set before the cut, recovering the wide-context suites.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00" b="0" i="1">
                <a:solidFill>
                  <a:srgbClr val="8A8A8A"/>
                </a:solidFill>
                <a:latin typeface="Calibri"/>
              </a:rPr>
              <a:t>Sources: CAUSAL_GATE_PREDICT_REPORT.md (§accuracy, §compute) · artifacts/predict_eval/merged_results.csv (400 ep/run)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What the Model Sees Under Pruning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Learned gate keeps task-relevant patches; degradation is graceful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23</a:t>
            </a:r>
          </a:p>
        </p:txBody>
      </p:sp>
      <p:pic>
        <p:nvPicPr>
          <p:cNvPr id="7" name="Picture 6" descr="molmo_mask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83" y="1234440"/>
            <a:ext cx="2415274" cy="5029200"/>
          </a:xfrm>
          <a:prstGeom prst="rect">
            <a:avLst/>
          </a:prstGeom>
          <a:ln w="9525">
            <a:solidFill>
              <a:srgbClr val="C9CCD1"/>
            </a:solidFill>
          </a:ln>
        </p:spPr>
      </p:pic>
      <p:pic>
        <p:nvPicPr>
          <p:cNvPr id="8" name="Picture 7" descr="molmo_prune_viz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179" y="1234440"/>
            <a:ext cx="3520761" cy="4114800"/>
          </a:xfrm>
          <a:prstGeom prst="rect">
            <a:avLst/>
          </a:prstGeom>
          <a:ln w="9525">
            <a:solidFill>
              <a:srgbClr val="C9CCD1"/>
            </a:solidFill>
          </a:ln>
        </p:spPr>
      </p:pic>
      <p:pic>
        <p:nvPicPr>
          <p:cNvPr id="9" name="Picture 8" descr="molmo_prune_viz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579" y="1234440"/>
            <a:ext cx="3520761" cy="4114800"/>
          </a:xfrm>
          <a:prstGeom prst="rect">
            <a:avLst/>
          </a:prstGeom>
          <a:ln w="9525">
            <a:solidFill>
              <a:srgbClr val="C9CCD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520440" y="5440680"/>
            <a:ext cx="4206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keep = 50% tokens (input | kept)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440680"/>
            <a:ext cx="4206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keep = 25% tokens (input | kept)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95057"/>
                </a:solidFill>
                <a:latin typeface="Calibri"/>
              </a:rPr>
              <a:t>attention heatmaps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FEEDBACK_PRUNING_LORA_REPORT.md · VIT_DISTILL_REPORT.md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Combined Pipeline — Inference on Strix Halo</a:t>
            </a:r>
          </a:p>
          <a:p>
            <a:r>
              <a:rPr sz="1350" b="0" i="0">
                <a:solidFill>
                  <a:srgbClr val="C9CCD1"/>
                </a:solidFill>
                <a:latin typeface="Times New Roman"/>
              </a:rPr>
              <a:t>ViT encode (2 crops) + LLM prefill on the Radeon 8060S iGPU — excludes the flow-matching action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 i="0">
                <a:solidFill>
                  <a:srgbClr val="495057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7040878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ViT (ms)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LLM prefill (ms)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 (ms)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vs full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Full (no pruning)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170.6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173.0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343.6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Random pre-ViT (keep 50%)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59.1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110.4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169.5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−50.7%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Two-stage FastV, keep 50%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59.1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115.6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174.7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9E44"/>
                          </a:solidFill>
                          <a:latin typeface="Calibri"/>
                        </a:rPr>
                        <a:t>−49.2%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Two-stage FastV, keep 25%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59.1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97.6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156.7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9E44"/>
                          </a:solidFill>
                          <a:latin typeface="Calibri"/>
                        </a:rPr>
                        <a:t>−54.4%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7040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1A1A2E"/>
                </a:solidFill>
                <a:latin typeface="Calibri"/>
              </a:rPr>
              <a:t>Total latency (ViT + LLM prefill),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96512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50" b="0" i="0">
                <a:solidFill>
                  <a:srgbClr val="212529"/>
                </a:solidFill>
                <a:latin typeface="Calibri"/>
              </a:rPr>
              <a:t>Full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4114800"/>
            <a:ext cx="4754880" cy="237744"/>
          </a:xfrm>
          <a:prstGeom prst="rect">
            <a:avLst/>
          </a:prstGeom>
          <a:solidFill>
            <a:srgbClr val="495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4087368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950" b="1" i="0">
                <a:solidFill>
                  <a:srgbClr val="212529"/>
                </a:solidFill>
                <a:latin typeface="Calibri"/>
              </a:rPr>
              <a:t>343.6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50" b="0" i="0">
                <a:solidFill>
                  <a:srgbClr val="212529"/>
                </a:solidFill>
                <a:latin typeface="Calibri"/>
              </a:rPr>
              <a:t>Random keep50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4498848"/>
            <a:ext cx="2345611" cy="237744"/>
          </a:xfrm>
          <a:prstGeom prst="rect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0171" y="4471416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950" b="1" i="0">
                <a:solidFill>
                  <a:srgbClr val="212529"/>
                </a:solidFill>
                <a:latin typeface="Calibri"/>
              </a:rPr>
              <a:t>169.5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50" b="0" i="0">
                <a:solidFill>
                  <a:srgbClr val="212529"/>
                </a:solidFill>
                <a:latin typeface="Calibri"/>
              </a:rPr>
              <a:t>FastV keep50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4882896"/>
            <a:ext cx="2417571" cy="237744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2131" y="4855464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950" b="1" i="0">
                <a:solidFill>
                  <a:srgbClr val="212529"/>
                </a:solidFill>
                <a:latin typeface="Calibri"/>
              </a:rPr>
              <a:t>174.7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48656"/>
            <a:ext cx="1645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50" b="0" i="0">
                <a:solidFill>
                  <a:srgbClr val="212529"/>
                </a:solidFill>
                <a:latin typeface="Calibri"/>
              </a:rPr>
              <a:t>FastV keep25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5266944"/>
            <a:ext cx="2168479" cy="237744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63039" y="5239512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950" b="1" i="0">
                <a:solidFill>
                  <a:srgbClr val="212529"/>
                </a:solidFill>
                <a:latin typeface="Calibri"/>
              </a:rPr>
              <a:t>156.7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371600"/>
            <a:ext cx="3977639" cy="448056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1508760"/>
            <a:ext cx="3566160" cy="4206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50" b="1" i="0">
                <a:solidFill>
                  <a:srgbClr val="1A1A2E"/>
                </a:solidFill>
                <a:latin typeface="Calibri"/>
              </a:rPr>
              <a:t>Reading the numbers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212529"/>
                </a:solidFill>
                <a:latin typeface="Calibri"/>
              </a:rPr>
              <a:t>•  Pre-ViT gating cuts ViT encode 2.9× (170.6 → 59.1 ms) — same for every pruned regime.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212529"/>
                </a:solidFill>
                <a:latin typeface="Calibri"/>
              </a:rPr>
              <a:t>•  The FastV depth sets LLM prefill cost: the deeper keep-25 cut (L0=9) trims prefill to 97.6 ms, giving the best total 156.7 ms (−54.4%).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212529"/>
                </a:solidFill>
                <a:latin typeface="Calibri"/>
              </a:rPr>
              <a:t>•  keep-50 (L0=3) totals 174.7 ms (−49.2%); it prefills slightly more than the random baseline because it cuts one layer later.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212529"/>
                </a:solidFill>
                <a:latin typeface="Calibri"/>
              </a:rPr>
              <a:t>•  Latency is identical for gate vs predict within a pair (matched token budget), so one curve covers both selectors.</a:t>
            </a:r>
          </a:p>
          <a:p>
            <a:pPr>
              <a:spcBef>
                <a:spcPts val="600"/>
              </a:spcBef>
            </a:pPr>
            <a:r>
              <a:rPr sz="1000" b="0" i="1">
                <a:solidFill>
                  <a:srgbClr val="495057"/>
                </a:solidFill>
                <a:latin typeface="Calibri"/>
              </a:rPr>
              <a:t>•  Excludes the flow-matching action expert; LIBERO wall-clock eval time is render-dominated and not used as a latency metric.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00" b="0" i="1">
                <a:solidFill>
                  <a:srgbClr val="8A8A8A"/>
                </a:solidFill>
                <a:latin typeface="Calibri"/>
              </a:rPr>
              <a:t>Sources: artifacts/rollouts/pruning/strix_latency.json (Radeon 8060S) · pruning_stats.csv · CAUSAL_GATE_PREDICT_REPORT.md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C — Distilled ViT (~114× less compute)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Replace the SigLIP2 ViT with a tiny student — toward FPGA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routeC_di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3287"/>
            <a:ext cx="7223760" cy="27599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417320"/>
            <a:ext cx="3840480" cy="4389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Distill </a:t>
            </a:r>
            <a:r>
              <a:rPr sz="1300" b="1" i="0">
                <a:solidFill>
                  <a:srgbClr val="1A1A2E"/>
                </a:solidFill>
                <a:latin typeface="Calibri"/>
              </a:rPr>
              <a:t>SigLIP2 ViT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 (~616 GFLOP/crop) → hybrid student </a:t>
            </a:r>
            <a:r>
              <a:rPr sz="1300" b="1" i="0">
                <a:solidFill>
                  <a:srgbClr val="ED1C24"/>
                </a:solidFill>
                <a:latin typeface="Calibri"/>
              </a:rPr>
              <a:t>5.4 GFLOP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F9E44"/>
                </a:solidFill>
                <a:latin typeface="Calibri"/>
              </a:rPr>
              <a:t>114×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less ViT compute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A1A2E"/>
                </a:solidFill>
                <a:latin typeface="Calibri"/>
              </a:rPr>
              <a:t>Feature fidelity: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seam cosine 0.885 on held-out frames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1A1A2E"/>
                </a:solidFill>
                <a:latin typeface="Calibri"/>
              </a:rPr>
              <a:t>Closed-loop: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94% overall vs 100% teacher (−6 pts)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12529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D9480F"/>
                </a:solidFill>
                <a:latin typeface="Calibri"/>
              </a:rPr>
              <a:t>Goal: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fit the tiny encoder on FPGA hardware </a:t>
            </a:r>
            <a:r>
              <a:rPr sz="1250" b="0" i="0">
                <a:solidFill>
                  <a:srgbClr val="495057"/>
                </a:solidFill>
                <a:latin typeface="Calibri"/>
              </a:rPr>
              <a:t>(ongoing)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95057"/>
                </a:solidFill>
                <a:latin typeface="Calibri"/>
              </a:rPr>
              <a:t>Trained on Radha (MI210)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VIT_DISTILL_REPORT.md · artifacts/vit_distill/pipeline_3x_status.md (MI210/Radha)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17C0-A8C4-6060-2435-3075F8EB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51C51-BB01-14EA-2D53-C01DC4944BD8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6E985B-F25A-15F6-921D-DA84EA5DAF47}"/>
              </a:ext>
            </a:extLst>
          </p:cNvPr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E907D-8F79-A3DE-B277-EF6A3F65A568}"/>
              </a:ext>
            </a:extLst>
          </p:cNvPr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C — Seam Fidelity: Teacher vs Student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Replace the SigLIP2 ViT with a tiny student — toward FPGA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AF9D7-7088-B04E-9A39-E2273D6C6769}"/>
              </a:ext>
            </a:extLst>
          </p:cNvPr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223C2-8559-113D-3930-2E4EC95ECAD6}"/>
              </a:ext>
            </a:extLst>
          </p:cNvPr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routeC_distill.png">
            <a:extLst>
              <a:ext uri="{FF2B5EF4-FFF2-40B4-BE49-F238E27FC236}">
                <a16:creationId xmlns:a16="http://schemas.microsoft.com/office/drawing/2014/main" id="{0D951F04-1D83-8A48-84A0-C9E87F13B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3287"/>
            <a:ext cx="7223760" cy="2759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9C373-CEDB-EC31-1449-FA82C27A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304" y="0"/>
            <a:ext cx="3389391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VIT_DISTILL_REPORT.md §7 (m4_metrics.json, seam cosine 0.885)</a:t>
            </a:r>
          </a:p>
        </p:txBody>
      </p:sp>
    </p:spTree>
    <p:extLst>
      <p:ext uri="{BB962C8B-B14F-4D97-AF65-F5344CB8AC3E}">
        <p14:creationId xmlns:p14="http://schemas.microsoft.com/office/powerpoint/2010/main" val="1435898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Route C — Distillation + LoRA Fine-Tune</a:t>
            </a:r>
          </a:p>
          <a:p>
            <a:pPr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C9CCD1"/>
                </a:solidFill>
                <a:latin typeface="Times New Roman"/>
              </a:rPr>
              <a:t>Fine-tuning on top of the distilled ViT recovers task success toward the teacher</a:t>
            </a:r>
          </a:p>
        </p:txBody>
      </p:sp>
      <p:pic>
        <p:nvPicPr>
          <p:cNvPr id="5" name="Picture 4" descr="routeC_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0651"/>
            <a:ext cx="7452360" cy="37595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417320"/>
            <a:ext cx="3794760" cy="4343400"/>
          </a:xfrm>
          <a:prstGeom prst="round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1417320"/>
            <a:ext cx="3794760" cy="45720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472184"/>
            <a:ext cx="3794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Key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011680"/>
            <a:ext cx="338328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F9E44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212529"/>
                </a:solidFill>
                <a:latin typeface="Calibri"/>
              </a:rPr>
              <a:t>Overall </a:t>
            </a:r>
            <a:r>
              <a:rPr sz="1250" b="1" i="0">
                <a:solidFill>
                  <a:srgbClr val="2F9E44"/>
                </a:solidFill>
                <a:latin typeface="Calibri"/>
              </a:rPr>
              <a:t>94% → 95%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with LoRA fine-tune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F9E4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Object fully recovered </a:t>
            </a:r>
            <a:r>
              <a:rPr sz="1250" b="1" i="0">
                <a:solidFill>
                  <a:srgbClr val="2F9E44"/>
                </a:solidFill>
                <a:latin typeface="Calibri"/>
              </a:rPr>
              <a:t>96% → 100%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— matches teacher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F9E4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Spatial stays </a:t>
            </a:r>
            <a:r>
              <a:rPr sz="1250" b="1" i="0">
                <a:solidFill>
                  <a:srgbClr val="212529"/>
                </a:solidFill>
                <a:latin typeface="Calibri"/>
              </a:rPr>
              <a:t>100%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; Goal 92% / Long 88% unchanged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F9E4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Now only </a:t>
            </a:r>
            <a:r>
              <a:rPr sz="1250" b="1" i="0">
                <a:solidFill>
                  <a:srgbClr val="ED1C24"/>
                </a:solidFill>
                <a:latin typeface="Calibri"/>
              </a:rPr>
              <a:t>−5 pts vs teacher</a:t>
            </a:r>
            <a:r>
              <a:rPr sz="1250" b="0" i="0">
                <a:solidFill>
                  <a:srgbClr val="212529"/>
                </a:solidFill>
                <a:latin typeface="Calibri"/>
              </a:rPr>
              <a:t> (was −6) at </a:t>
            </a:r>
            <a:r>
              <a:rPr sz="1250" b="1" i="0">
                <a:solidFill>
                  <a:srgbClr val="1A1A2E"/>
                </a:solidFill>
                <a:latin typeface="Calibri"/>
              </a:rPr>
              <a:t>114× less ViT compute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F9E4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495057"/>
                </a:solidFill>
                <a:latin typeface="Calibri"/>
              </a:rPr>
              <a:t>LoRA adapters on the distilled encoder; closed-loop LIBERO, 25 ep/suite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2026-07-09  ·  AMD Strix Halo (gfx1151)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95057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i="1">
                <a:solidFill>
                  <a:srgbClr val="8A8A8A"/>
                </a:solidFill>
              </a:rPr>
              <a:t>Sources: artifacts/vit_distill/pipeline_3x_status.md (compare_nway.csv)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Route C — Three Distilled-ViT Variants (~100–120×)</a:t>
            </a:r>
          </a:p>
          <a:p>
            <a:r>
              <a:rPr sz="1350" b="0" i="0">
                <a:solidFill>
                  <a:srgbClr val="C9CCD1"/>
                </a:solidFill>
                <a:latin typeface="Times New Roman"/>
              </a:rPr>
              <a:t>Same seam-retention distill + LoRA finetune, three student architectures — all ≥ 98% closed-loop, all beat the finetuned-hybrid 95%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2026-07-20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 i="0">
                <a:solidFill>
                  <a:srgbClr val="495057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16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9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1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23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7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Student architecture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GFLOPs/crop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Comp.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Teacher (SigLIP2 ViT)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617.15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1.0×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distill-only hybrid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conv+attn, no finetune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2.79M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114×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finetuned hybrid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conv+attn + LoRA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2.79M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114×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A · siglip_nano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attention-only tinyvit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2.73M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5.74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107×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B · hybrid_droid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conv+attn + DROID real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2.79M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5.40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114×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9E44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C · cnn_fpga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pure-CNN (FPGA-friendly)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3.83M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5.14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120×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43400"/>
            <a:ext cx="11247120" cy="141732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443984"/>
            <a:ext cx="10835640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212529"/>
                </a:solidFill>
                <a:latin typeface="Calibri"/>
              </a:rPr>
              <a:t>▸  B (hybrid_droid, +DROID real frames) is best overall at 99% — the only variant that fully recovers the hardest long-horizon suite (Long 100%).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12529"/>
                </a:solidFill>
                <a:latin typeface="Calibri"/>
              </a:rPr>
              <a:t>▸  A (siglip_nano) matches 98% with the fewest params (2.73M) despite being attention-only; C (cnn_fpga) reaches 98% while staying pure-CNN (no attention op) — the most FPGA-friendly at ~120×.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12529"/>
                </a:solidFill>
                <a:latin typeface="Calibri"/>
              </a:rPr>
              <a:t>▸  The LoRA finetune on top of the distilled encoder recovers the Goal/Long regressions of the distill-only (94%) and finetuned-hybrid (95%) baselines. +DROID real-data recipe (B) is the recommended default.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00" b="0" i="1">
                <a:solidFill>
                  <a:srgbClr val="8A8A8A"/>
                </a:solidFill>
                <a:latin typeface="Calibri"/>
              </a:rPr>
              <a:t>Sources: artifacts/vit_distill/pipeline_3x_status.md (compare_nway.csv, 100 ep/arm) · VIT_DISTILL_REPORT.md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LLM Backbone Distillation — qwen06w + KV-Anchor → DAgger</a:t>
            </a:r>
          </a:p>
          <a:p>
            <a:r>
              <a:rPr sz="1350" b="0" i="0">
                <a:solidFill>
                  <a:srgbClr val="C9CCD1"/>
                </a:solidFill>
                <a:latin typeface="Times New Roman"/>
              </a:rPr>
              <a:t>The first non-zero LLM-backbone result: a Qwen3-0.6B-width student, 6.4× fewer decoder FLOPs, plugged into the frozen action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2026-07-20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 i="0">
                <a:solidFill>
                  <a:srgbClr val="49505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5321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A1A2E"/>
                </a:solidFill>
                <a:latin typeface="Calibri"/>
              </a:rPr>
              <a:t>Why it is hard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212529"/>
                </a:solidFill>
                <a:latin typeface="Calibri"/>
              </a:rPr>
              <a:t>The flow-matching action expert cross-attends the LLM's per-layer K/V (one DiT block per LLM layer, 1:1). So depth is fixed at 36 — distillation can only cut width — and the KV interface must match the teacher exactly (8×128 = 1024).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97480"/>
          <a:ext cx="5486399" cy="2121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Teacher backbone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qwen06w student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Layers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36 (fixed)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Hidden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2560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Q / KV heads × dim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32 / 8×128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16 / 8×128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MLP intermediate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9728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3072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KV interface (kv_dim)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1024 (identical)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Backbone params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12529"/>
                          </a:solidFill>
                          <a:latin typeface="Calibri"/>
                        </a:rPr>
                        <a:t>3.65 B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F9E44"/>
                          </a:solidFill>
                          <a:latin typeface="Calibri"/>
                        </a:rPr>
                        <a:t>0.57 B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983480"/>
            <a:ext cx="548640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1" i="0">
                <a:solidFill>
                  <a:srgbClr val="212529"/>
                </a:solidFill>
                <a:latin typeface="Calibri"/>
              </a:rPr>
              <a:t>Naive backbone distillation collapses to 0%: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495057"/>
                </a:solidFill>
                <a:latin typeface="Calibri"/>
              </a:rPr>
              <a:t>•  Pure representational (match KV only): 0.99 KV cosine but 0% closed-loop — a deceptive target that starves the task.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495057"/>
                </a:solidFill>
                <a:latin typeface="Calibri"/>
              </a:rPr>
              <a:t>•  Functional-only (flow loss, KV free): student KV goes orthogonal to teacher (cos ≈ 0), never grasps — 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5321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A1A2E"/>
                </a:solidFill>
                <a:latin typeface="Calibri"/>
              </a:rPr>
              <a:t>The pipeline that worked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532120" cy="758952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37943"/>
            <a:ext cx="521208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50" b="1" i="0">
                <a:solidFill>
                  <a:srgbClr val="1A1A2E"/>
                </a:solidFill>
                <a:latin typeface="Calibri"/>
              </a:rPr>
              <a:t>Stage 0  ·  warm-start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212529"/>
                </a:solidFill>
                <a:latin typeface="Calibri"/>
              </a:rPr>
              <a:t>qwen06w warm-started from Qwen3-0.6B; 28→36 depth stretch, new down/up interface layers.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688336"/>
            <a:ext cx="5532120" cy="969264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5212080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50" b="1" i="0">
                <a:solidFill>
                  <a:srgbClr val="1A1A2E"/>
                </a:solidFill>
                <a:latin typeface="Calibri"/>
              </a:rPr>
              <a:t>Stage 1  ·  all-layer teacher-KV anchoring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212529"/>
                </a:solidFill>
                <a:latin typeface="Calibri"/>
              </a:rPr>
              <a:t>flow + λ·anchor (λ=1, β=0.1) across all 36 layers — fixes the orthogonal collapse.</a:t>
            </a:r>
          </a:p>
          <a:p>
            <a:pPr>
              <a:spcBef>
                <a:spcPts val="200"/>
              </a:spcBef>
            </a:pPr>
            <a:r>
              <a:rPr sz="1100" b="1" i="0">
                <a:solidFill>
                  <a:srgbClr val="2F9E44"/>
                </a:solidFill>
                <a:latin typeface="Calibri"/>
              </a:rPr>
              <a:t>0% → 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03904"/>
            <a:ext cx="5532120" cy="969264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858768"/>
            <a:ext cx="5212080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50" b="1" i="0">
                <a:solidFill>
                  <a:srgbClr val="1A1A2E"/>
                </a:solidFill>
                <a:latin typeface="Calibri"/>
              </a:rPr>
              <a:t>Stage 2  ·  LLM + AE co-adaptation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212529"/>
                </a:solidFill>
                <a:latin typeface="Calibri"/>
              </a:rPr>
              <a:t>co-adapt the pair, then LoRA base — trades raw score for a flexible base the on-policy stage can move.</a:t>
            </a:r>
          </a:p>
          <a:p>
            <a:pPr>
              <a:spcBef>
                <a:spcPts val="200"/>
              </a:spcBef>
            </a:pPr>
            <a:r>
              <a:rPr sz="1100" b="1" i="0">
                <a:solidFill>
                  <a:srgbClr val="495057"/>
                </a:solidFill>
                <a:latin typeface="Calibri"/>
              </a:rPr>
              <a:t>30% base → 9.2%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919472"/>
            <a:ext cx="5532120" cy="969264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4974336"/>
            <a:ext cx="5212080" cy="8961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50" b="1" i="0">
                <a:solidFill>
                  <a:srgbClr val="1A1A2E"/>
                </a:solidFill>
                <a:latin typeface="Calibri"/>
              </a:rPr>
              <a:t>Stage 3  ·  on-policy DAgger + AE-LoRA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212529"/>
                </a:solidFill>
                <a:latin typeface="Calibri"/>
              </a:rPr>
              <a:t>roll out student, relabel visited states with teacher, finetune on 50/50 on-policy/demo with a LoRA-adapted action expert.</a:t>
            </a:r>
          </a:p>
          <a:p>
            <a:pPr>
              <a:spcBef>
                <a:spcPts val="200"/>
              </a:spcBef>
            </a:pPr>
            <a:r>
              <a:rPr sz="1100" b="1" i="0">
                <a:solidFill>
                  <a:srgbClr val="2F9E44"/>
                </a:solidFill>
                <a:latin typeface="Calibri"/>
              </a:rPr>
              <a:t>→ 47.5%  ◀ 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00" b="0" i="1">
                <a:solidFill>
                  <a:srgbClr val="8A8A8A"/>
                </a:solidFill>
                <a:latin typeface="Calibri"/>
              </a:rPr>
              <a:t>Sources: research/llm_distill/DISTILLATION_SUCCESS_REPORT.md §1–2 · HYBRID_DISTILL_REPORT.md (Workstreams A–E)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LLM Backbone — Results &amp; Compute Wins</a:t>
            </a:r>
          </a:p>
          <a:p>
            <a:r>
              <a:rPr sz="1350" b="0" i="0">
                <a:solidFill>
                  <a:srgbClr val="C9CCD1"/>
                </a:solidFill>
                <a:latin typeface="Times New Roman"/>
              </a:rPr>
              <a:t>47.5% closed-loop — +17.5 pts past the 30% teacher-forced ceiling — at 6.4× smaller, 2.2–3.2× faster, 5.4× less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2026-07-20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 i="0">
                <a:solidFill>
                  <a:srgbClr val="495057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68580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A1A2E"/>
                </a:solidFill>
                <a:latin typeface="Calibri"/>
              </a:rPr>
              <a:t>Stage trajectory (winning expd arm, qwen06w)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737360"/>
          <a:ext cx="6858000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Closed-loop success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Stage-2 co-adapted base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+ on-policy DAgger, frozen action expert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12529"/>
                          </a:solidFill>
                          <a:latin typeface="Calibri"/>
                        </a:rPr>
                        <a:t>16.67%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F9E44"/>
                          </a:solidFill>
                          <a:latin typeface="Calibri"/>
                        </a:rPr>
                        <a:t>+ on-policy DAgger, LoRA-adapted action expert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9E44"/>
                          </a:solidFill>
                          <a:latin typeface="Calibri"/>
                        </a:rPr>
                        <a:t>47.5%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3337560"/>
            <a:ext cx="68580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A1A2E"/>
                </a:solidFill>
                <a:latin typeface="Calibri"/>
              </a:rPr>
              <a:t>Per-suite at 47.5% (120 rollouts: 4 suites × 10 tasks × 3 ep)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840480"/>
          <a:ext cx="68580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libero_spatial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libero_object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libero_goal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libero_10 (long)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26.7%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9E44"/>
                          </a:solidFill>
                          <a:latin typeface="Calibri"/>
                        </a:rPr>
                        <a:t>47.5%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4800600"/>
            <a:ext cx="685800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0" i="0">
                <a:solidFill>
                  <a:srgbClr val="212529"/>
                </a:solidFill>
                <a:latin typeface="Calibri"/>
              </a:rPr>
              <a:t>The unlock (Stage 3): letting the action expert co-adapt cheaply (LoRA) to the shifted student features on the student's own on-policy state distribution is what breaks the 30% teacher-forced ceiling — especially strong on object manipulation (80%).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495057"/>
                </a:solidFill>
                <a:latin typeface="Calibri"/>
              </a:rPr>
              <a:t>Benchmark: LIBERO closed-loop, fixed seeds 1000+. Teacher = MolmoAct2-LIBERO (36-layer Qwen3 backbone + flow-matching action expert). Single AMD Instinct MI210, bf16.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280160"/>
            <a:ext cx="4297680" cy="457200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79" y="1280160"/>
            <a:ext cx="4297680" cy="457200"/>
          </a:xfrm>
          <a:prstGeom prst="round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1335024"/>
            <a:ext cx="42976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Compute wins vs teacher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920240"/>
            <a:ext cx="38862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 b="0" i="0">
                <a:solidFill>
                  <a:srgbClr val="495057"/>
                </a:solidFill>
                <a:latin typeface="Calibri"/>
              </a:rPr>
              <a:t>Parameters</a:t>
            </a:r>
          </a:p>
          <a:p>
            <a:r>
              <a:rPr sz="1150" b="1" i="0">
                <a:solidFill>
                  <a:srgbClr val="212529"/>
                </a:solidFill>
                <a:latin typeface="Calibri"/>
              </a:rPr>
              <a:t>3.65 B → 0.57 B      </a:t>
            </a:r>
            <a:r>
              <a:rPr sz="1150" b="1">
                <a:solidFill>
                  <a:srgbClr val="2F9E44"/>
                </a:solidFill>
                <a:latin typeface="Calibri"/>
              </a:rPr>
              <a:t>6.38× smaller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69464"/>
            <a:ext cx="38862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 b="0" i="0">
                <a:solidFill>
                  <a:srgbClr val="495057"/>
                </a:solidFill>
                <a:latin typeface="Calibri"/>
              </a:rPr>
              <a:t>Weights (bf16)</a:t>
            </a:r>
          </a:p>
          <a:p>
            <a:r>
              <a:rPr sz="1150" b="1" i="0">
                <a:solidFill>
                  <a:srgbClr val="212529"/>
                </a:solidFill>
                <a:latin typeface="Calibri"/>
              </a:rPr>
              <a:t>7.29 → 1.14 GB      </a:t>
            </a:r>
            <a:r>
              <a:rPr sz="1150" b="1">
                <a:solidFill>
                  <a:srgbClr val="2F9E44"/>
                </a:solidFill>
                <a:latin typeface="Calibri"/>
              </a:rPr>
              <a:t>6.38× smaller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18688"/>
            <a:ext cx="38862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 b="0" i="0">
                <a:solidFill>
                  <a:srgbClr val="495057"/>
                </a:solidFill>
                <a:latin typeface="Calibri"/>
              </a:rPr>
              <a:t>Prefill latency, batch 1</a:t>
            </a:r>
          </a:p>
          <a:p>
            <a:r>
              <a:rPr sz="1150" b="1" i="0">
                <a:solidFill>
                  <a:srgbClr val="212529"/>
                </a:solidFill>
                <a:latin typeface="Calibri"/>
              </a:rPr>
              <a:t>61.6 → 27.5 ms      </a:t>
            </a:r>
            <a:r>
              <a:rPr sz="1150" b="1">
                <a:solidFill>
                  <a:srgbClr val="2F9E44"/>
                </a:solidFill>
                <a:latin typeface="Calibri"/>
              </a:rPr>
              <a:t>2.24× faster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867912"/>
            <a:ext cx="38862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 b="0" i="0">
                <a:solidFill>
                  <a:srgbClr val="495057"/>
                </a:solidFill>
                <a:latin typeface="Calibri"/>
              </a:rPr>
              <a:t>Prefill latency, batch 8</a:t>
            </a:r>
          </a:p>
          <a:p>
            <a:r>
              <a:rPr sz="1150" b="1" i="0">
                <a:solidFill>
                  <a:srgbClr val="212529"/>
                </a:solidFill>
                <a:latin typeface="Calibri"/>
              </a:rPr>
              <a:t>350.7 → 108.6 ms      </a:t>
            </a:r>
            <a:r>
              <a:rPr sz="1150" b="1">
                <a:solidFill>
                  <a:srgbClr val="2F9E44"/>
                </a:solidFill>
                <a:latin typeface="Calibri"/>
              </a:rPr>
              <a:t>3.23× faster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517136"/>
            <a:ext cx="38862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 b="0" i="0">
                <a:solidFill>
                  <a:srgbClr val="495057"/>
                </a:solidFill>
                <a:latin typeface="Calibri"/>
              </a:rPr>
              <a:t>Peak inference mem, batch 1</a:t>
            </a:r>
          </a:p>
          <a:p>
            <a:r>
              <a:rPr sz="1150" b="1" i="0">
                <a:solidFill>
                  <a:srgbClr val="212529"/>
                </a:solidFill>
                <a:latin typeface="Calibri"/>
              </a:rPr>
              <a:t>7.73 → 1.42 GB      </a:t>
            </a:r>
            <a:r>
              <a:rPr sz="1150" b="1">
                <a:solidFill>
                  <a:srgbClr val="2F9E44"/>
                </a:solidFill>
                <a:latin typeface="Calibri"/>
              </a:rPr>
              <a:t>5.45× 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166360"/>
            <a:ext cx="38862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50" b="0" i="0">
                <a:solidFill>
                  <a:srgbClr val="495057"/>
                </a:solidFill>
                <a:latin typeface="Calibri"/>
              </a:rPr>
              <a:t>Decoder FLOPs / token</a:t>
            </a:r>
          </a:p>
          <a:p>
            <a:r>
              <a:rPr sz="1150" b="1" i="0">
                <a:solidFill>
                  <a:srgbClr val="212529"/>
                </a:solidFill>
                <a:latin typeface="Calibri"/>
              </a:rPr>
              <a:t>—      </a:t>
            </a:r>
            <a:r>
              <a:rPr sz="1150" b="1">
                <a:solidFill>
                  <a:srgbClr val="2F9E44"/>
                </a:solidFill>
                <a:latin typeface="Calibri"/>
              </a:rPr>
              <a:t>6.42× fewer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833872"/>
            <a:ext cx="3886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950" b="0" i="1">
                <a:solidFill>
                  <a:srgbClr val="495057"/>
                </a:solidFill>
                <a:latin typeface="Calibri"/>
              </a:rPr>
              <a:t>Peak memory drops 5.4× — backbone from ~7.7 GB into edge / small-accelerator budgets.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00" b="0" i="1">
                <a:solidFill>
                  <a:srgbClr val="8A8A8A"/>
                </a:solidFill>
                <a:latin typeface="Calibri"/>
              </a:rPr>
              <a:t>Sources: research/llm_distill/DISTILLATION_SUCCESS_REPORT.md §3–4 (bench_backbone.py, MI210 bf16)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84280" cy="7863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LLM Backbone — Why Each Stage (Negative Controls)</a:t>
            </a:r>
          </a:p>
          <a:p>
            <a:r>
              <a:rPr sz="1350" b="0" i="0">
                <a:solidFill>
                  <a:srgbClr val="C9CCD1"/>
                </a:solidFill>
                <a:latin typeface="Times New Roman"/>
              </a:rPr>
              <a:t>Every design choice is here because the cheaper alternative was measured to fail — closed-loop rollout, not flow loss, is the only reliable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4710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495057"/>
                </a:solidFill>
                <a:latin typeface="Calibri"/>
              </a:rPr>
              <a:t>Weekly research update  ·  2026-07-20  ·  AMD Strix Halo (gfx1151)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900" b="0" i="0">
                <a:solidFill>
                  <a:srgbClr val="495057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Choice tested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Measured outcome</a:t>
                      </a:r>
                    </a:p>
                  </a:txBody>
                  <a:tcPr marL="45720" marR="45720" marT="18288" marB="18288"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Pure representational (match per-layer KV only)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0.99 KV cosine but 0% closed-loop — deceptive target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Functional-only (flow loss, KV free)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student KV orthogonal to teacher (cos ≈ 0) → 0%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Thin-twin student (hidden 208, head_dim 26, 5× KV bottleneck)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loss floor ~24, 0% on all 4 suites — over-compressed on width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Flow + all-layer teacher-KV anchor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9E44"/>
                          </a:solidFill>
                          <a:latin typeface="Calibri"/>
                        </a:rPr>
                        <a:t>0% → 30% — the enabling lever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Frozen action expert during on-policy DAgger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caps at 16.67%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Calibri"/>
                        </a:rPr>
                        <a:t>LoRA-adapt action expert during on-policy DAgger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9E44"/>
                          </a:solidFill>
                          <a:latin typeface="Calibri"/>
                        </a:rPr>
                        <a:t>→ 47.5% — the unlock</a:t>
                      </a:r>
                    </a:p>
                  </a:txBody>
                  <a:tcPr marL="45720" marR="45720" marT="18288" marB="18288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Full-AE unfreeze under teacher-forced objective (Exp-D)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best flow loss 0.061 but only 9.2% — more freedom hurt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Naive DAgger round-2 (no data aggregation)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regressed 47.5% → 31.67% — non-aggregated forgetting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LoRA-on-LLM finetune of the width-reduced student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floors ~0.29 flow — needs a fully-unfrozen LLM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349240"/>
            <a:ext cx="11247120" cy="960120"/>
          </a:xfrm>
          <a:prstGeom prst="roundRect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440680"/>
            <a:ext cx="1083564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1" i="0">
                <a:solidFill>
                  <a:srgbClr val="212529"/>
                </a:solidFill>
                <a:latin typeface="Calibri"/>
              </a:rPr>
              <a:t>Bottom line: representational anchoring is what makes width-reduced distillation trainable (0→30%); closing the closed-loop covariate-shift gap needs BOTH on-policy data AND a co-adaptable (LoRA) action expert (30→47.5%). Open-loop flow loss never predicted closed-loop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556248"/>
            <a:ext cx="6903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00" b="0" i="1">
                <a:solidFill>
                  <a:srgbClr val="8A8A8A"/>
                </a:solidFill>
                <a:latin typeface="Calibri"/>
              </a:rPr>
              <a:t>Sources: HYBRID_DISTILL_REPORT.md (Workstreams A–F) · DISTILLATION_SUCCESS_REPORT.md §5 · artifacts/vit_distill/pipeline_3x_status.md (Run 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3554</Words>
  <Application>Microsoft Office PowerPoint</Application>
  <PresentationFormat>Widescreen</PresentationFormat>
  <Paragraphs>427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Mohammad, Mir Sayeed</dc:creator>
  <cp:keywords/>
  <dc:description>generated using python-pptx</dc:description>
  <cp:lastModifiedBy>Mohammad, Mir Sayeed</cp:lastModifiedBy>
  <cp:revision>3</cp:revision>
  <dcterms:created xsi:type="dcterms:W3CDTF">2013-01-27T09:14:16Z</dcterms:created>
  <dcterms:modified xsi:type="dcterms:W3CDTF">2026-07-24T08:25:26Z</dcterms:modified>
  <cp:category/>
</cp:coreProperties>
</file>